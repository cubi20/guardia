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Proyecto Final. GuardIA es una aplicación web hecha con Streamlit que integra IA para analizar correos y mensajes sospechosos y devolver un diagnóstico entendible.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introducción conecta el uso de IA con el problema elegido: es una tarea de lenguaje y criterio, justo donde un LLM aporta.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datos que dimensionan el problema. El tercero explica por qué el problema creció justamente ahora.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Elección del problema: relevancia social, cercanía personal e impacto medible.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flujo es deliberadamente simple porque está pensado para personas sin conocimientos técnicos.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Los cuatro puntos que pide la consigna sobre la propuesta de aplicación web con 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Captura de la aplicación. Incluye ejemplos cargados para que cualquiera pueda probarla sin tener un correo sospechoso a mano.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consigna pide una sección 'cómo funciona' con características clave, cómo hacer solicitudes y qué esperar. Está resuelta dentro de la app, no solo en la documentación.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prompt combina rol, checklist y reglas. Las reglas finales son el control explícito de alucinaciones.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Structured Outputs es lo que hace que la app sea confiable: la estructura está garantizada por la API, no por la buena voluntad del modelo.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consigna pide código organizado de manera lógica y comentado adecuadamente. La separación entre interfaz y lógica es la decisión estructural principal.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pre-entrega proponía OpenAI y dos modelos. El cambio a Gemini responde a una restricción concreta —operar sin costo— y la placa queda documentada como próxima función.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El costo real es cero. La columna de la derecha responde a la pregunta "¿y si esto lo usaran mil personas?": incluso pagando, el gasto es marginal frente al costo de un solo incidente.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Reconocer los límites es parte del diseño responsable de una herramienta de seguridad.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de compartir: pegar la URL real de Streamlit, la del repositorio de GitHub y la del video.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Cierre: qué resuelve, cómo lo resuelve y por qué importa.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Gracias.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2E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183880" y="1463040"/>
            <a:ext cx="3840480" cy="3840480"/>
          </a:xfrm>
          <a:prstGeom prst="ellipse">
            <a:avLst/>
          </a:prstGeom>
          <a:solidFill>
            <a:srgbClr val="0B2E4F"/>
          </a:solidFill>
          <a:ln w="19050">
            <a:solidFill>
              <a:srgbClr val="1B4B72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8686800" y="1965960"/>
            <a:ext cx="2834640" cy="2834640"/>
          </a:xfrm>
          <a:prstGeom prst="ellipse">
            <a:avLst/>
          </a:prstGeom>
          <a:solidFill>
            <a:srgbClr val="0B2E4F"/>
          </a:solidFill>
          <a:ln w="19050">
            <a:solidFill>
              <a:srgbClr val="215C86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189720" y="2468880"/>
            <a:ext cx="1828800" cy="1828800"/>
          </a:xfrm>
          <a:prstGeom prst="ellipse">
            <a:avLst/>
          </a:prstGeom>
          <a:solidFill>
            <a:srgbClr val="0B2E4F"/>
          </a:solidFill>
          <a:ln w="19050">
            <a:solidFill>
              <a:srgbClr val="215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646920" y="2926080"/>
            <a:ext cx="914400" cy="91440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9646920" y="29260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685800" y="777240"/>
            <a:ext cx="1082009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  ·   PROMPT ENGINEERING PARA PROGRAMADORES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85800" y="146304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</a:t>
            </a:r>
            <a:pPr indent="0" marL="0">
              <a:buNone/>
            </a:pPr>
            <a:r>
              <a:rPr lang="en-US" sz="96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9600" dirty="0"/>
          </a:p>
        </p:txBody>
      </p:sp>
      <p:sp>
        <p:nvSpPr>
          <p:cNvPr id="9" name="Text 7"/>
          <p:cNvSpPr/>
          <p:nvPr/>
        </p:nvSpPr>
        <p:spPr>
          <a:xfrm>
            <a:off x="685800" y="2852928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dirty="0">
                <a:solidFill>
                  <a:srgbClr val="C9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Asistente anti-phishing con inteligencia artificial para PyMEs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685800" y="4206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ESTUDIANTE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685800" y="4462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Agustín Idoyaga Molina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5623560" y="420624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COMISIÓN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623560" y="446227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#95920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685800" y="5074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CURSO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Engineering para Programadores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5623560" y="507492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5623560" y="5330952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Proyecto Final · Agosto 2026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685800" y="6172200"/>
            <a:ext cx="108200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E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Diplomatura en Inteligencia Artificial · CoderHouse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Introducción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usar inteligencia artificial para resolver este problema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920240"/>
            <a:ext cx="58521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inteligencia artificial generativa dejó de ser una promesa para convertirse en una herramienta de trabajo: hoy permite resolver, con pocas líneas de código y a un costo mínimo, tareas que antes exigían un equipo especializado.</a:t>
            </a: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endParaRPr lang="en-US" sz="1500" dirty="0"/>
          </a:p>
          <a:p>
            <a:pPr algn="l" indent="0" marL="0">
              <a:lnSpc>
                <a:spcPct val="125000"/>
              </a:lnSpc>
              <a:buNone/>
            </a:pPr>
            <a:r>
              <a:rPr lang="en-US" sz="15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Este proyecto la aplica a un problema concreto y cotidiano: decidir si un correo es confiable. Es una tarea que combina lenguaje, contexto y criterio, exactamente donde un modelo de lenguaje aporta valor, y que hoy recae en personas sin formación técnica que deben resolverla en pocos segundos.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903720" y="1874520"/>
            <a:ext cx="4599432" cy="1078992"/>
          </a:xfrm>
          <a:prstGeom prst="roundRect">
            <a:avLst>
              <a:gd name="adj" fmla="val 762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0" y="2157984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132320" y="215798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818120" y="202996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es humano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818120" y="233172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barrera técnica evita que un mensaje llegue a la bandeja de entrada y que una persona tenga que decidir.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903720" y="3108960"/>
            <a:ext cx="4599432" cy="1078992"/>
          </a:xfrm>
          <a:prstGeom prst="roundRect">
            <a:avLst>
              <a:gd name="adj" fmla="val 762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32320" y="3392424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132320" y="339242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7818120" y="326440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agravó el problema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7818120" y="356616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correos fraudulentos ya no se detectan por su mala redacción: hoy se escriben perfectos.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903720" y="4343400"/>
            <a:ext cx="4599432" cy="1078992"/>
          </a:xfrm>
          <a:prstGeom prst="roundRect">
            <a:avLst>
              <a:gd name="adj" fmla="val 762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0" y="4626864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132320" y="4626864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7818120" y="4498848"/>
            <a:ext cx="3566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puede resolverlo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818120" y="4800600"/>
            <a:ext cx="3566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IA volvió el engaño más convincente, esa misma tecnología puede analizarlo y explicarlo.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problemática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phishing es la puerta de entrada más común a los ataques informáticos, y las PyMEs son el eslabón más vulnerable.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965960"/>
            <a:ext cx="10789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phishing son correos o mensajes que se hacen pasar por una entidad confiable —un banco, un proveedor, un cliente o un compañero de trabajo— para que la persona haga clic en un enlace, descargue un archivo o entregue sus credenciales. El problema no es tecnológico sino humano: por más filtros que tenga una empresa, siempre hay un mensaje que llega y una persona que debe decidir en pocos segundos.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200400"/>
            <a:ext cx="3429000" cy="2148840"/>
          </a:xfrm>
          <a:prstGeom prst="roundRect">
            <a:avLst>
              <a:gd name="adj" fmla="val 383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33375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60 %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1005840" y="42519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brechas de datos involucran el factor humano: un clic, un descuido, un engaño.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70832" y="3200400"/>
            <a:ext cx="3429000" cy="2148840"/>
          </a:xfrm>
          <a:prstGeom prst="roundRect">
            <a:avLst>
              <a:gd name="adj" fmla="val 383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690872" y="33375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88 %</a:t>
            </a:r>
            <a:endParaRPr lang="en-US" sz="5400" dirty="0"/>
          </a:p>
        </p:txBody>
      </p:sp>
      <p:sp>
        <p:nvSpPr>
          <p:cNvPr id="10" name="Text 8"/>
          <p:cNvSpPr/>
          <p:nvPr/>
        </p:nvSpPr>
        <p:spPr>
          <a:xfrm>
            <a:off x="4690872" y="42519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las brechas en PyMEs incluyen ransomware, que muchas veces empieza con un simple correo.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055864" y="3200400"/>
            <a:ext cx="3429000" cy="2148840"/>
          </a:xfrm>
          <a:prstGeom prst="roundRect">
            <a:avLst>
              <a:gd name="adj" fmla="val 383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375904" y="3337560"/>
            <a:ext cx="28346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40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≈ ×3</a:t>
            </a:r>
            <a:endParaRPr lang="en-US" sz="5400" dirty="0"/>
          </a:p>
        </p:txBody>
      </p:sp>
      <p:sp>
        <p:nvSpPr>
          <p:cNvPr id="13" name="Text 11"/>
          <p:cNvSpPr/>
          <p:nvPr/>
        </p:nvSpPr>
        <p:spPr>
          <a:xfrm>
            <a:off x="8375904" y="4251960"/>
            <a:ext cx="28346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3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creció el phishing en el último período, potenciado por IA que redacta mensajes impecables.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685800" y="55778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Fuente: Verizon Data Breach Investigations Report (DBIR) 2025.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16" name="Text 14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esta problemática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problema real, cercano y con una solución al alcance.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10820095" cy="1243584"/>
          </a:xfrm>
          <a:prstGeom prst="roundRect">
            <a:avLst>
              <a:gd name="adj" fmla="val 6618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313432"/>
            <a:ext cx="548640" cy="54864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313432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783080" y="2130552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Afecta más a quien menos puede defenderse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83080" y="2468880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PyME rara vez tiene un equipo de seguridad informática, un plan de capacitación o presupuesto para herramientas comerciales. Sin embargo maneja datos de clientes, facturación y transferencias: un solo incidente puede paralizar su operación durante días.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3355848"/>
            <a:ext cx="10820095" cy="1243584"/>
          </a:xfrm>
          <a:prstGeom prst="roundRect">
            <a:avLst>
              <a:gd name="adj" fmla="val 6618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703320"/>
            <a:ext cx="548640" cy="54864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703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1783080" y="3520440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un problema que conozco de cerca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83080" y="3858768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Estoy cursando la Licenciatura en Ciberseguridad y trabajo en el área administrativa de una clínica, donde veo a diario cómo circulan correos con pedidos de pagos, remitos y facturas, y cómo cualquier empleado puede recibir un mensaje sospechoso sin tener herramientas para evaluarlo.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4745736"/>
            <a:ext cx="10820095" cy="1243584"/>
          </a:xfrm>
          <a:prstGeom prst="roundRect">
            <a:avLst>
              <a:gd name="adj" fmla="val 6618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5093208"/>
            <a:ext cx="548640" cy="54864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5093208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/>
          <p:nvPr/>
        </p:nvSpPr>
        <p:spPr>
          <a:xfrm>
            <a:off x="1783080" y="4910328"/>
            <a:ext cx="9509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impacto es inmediato y medible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83080" y="5248656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herramienta de consulta reduce el riesgo justo en el momento de la decisión, cuando la persona está por hacer clic. A diferencia de una capacitación anual —que se olvida— está disponible siempre que aparece la duda.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solución propuesta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789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aplicación web donde cualquier empleado pega un mensaje sospechoso y recibe un diagnóstico claro en segundos.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057400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377440"/>
            <a:ext cx="621792" cy="62179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3774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005840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Pegás el mensaje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35204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Copiás el correo o mensaje que te genera dudas. Si podés, sumás el remitente y los enlaces.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4032504" y="27432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400" dirty="0"/>
          </a:p>
        </p:txBody>
      </p:sp>
      <p:sp>
        <p:nvSpPr>
          <p:cNvPr id="10" name="Shape 8"/>
          <p:cNvSpPr/>
          <p:nvPr/>
        </p:nvSpPr>
        <p:spPr>
          <a:xfrm>
            <a:off x="4599432" y="2057400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919472" y="2377440"/>
            <a:ext cx="621792" cy="62179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919472" y="23774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2200" dirty="0"/>
          </a:p>
        </p:txBody>
      </p:sp>
      <p:sp>
        <p:nvSpPr>
          <p:cNvPr id="13" name="Text 11"/>
          <p:cNvSpPr/>
          <p:nvPr/>
        </p:nvSpPr>
        <p:spPr>
          <a:xfrm>
            <a:off x="4919472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lo analiza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4919472" y="35204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Revisa el dominio del remitente, la urgencia, qué te piden, los enlaces y la redacción.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7946136" y="2743200"/>
            <a:ext cx="4572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3400" dirty="0"/>
          </a:p>
        </p:txBody>
      </p:sp>
      <p:sp>
        <p:nvSpPr>
          <p:cNvPr id="16" name="Shape 14"/>
          <p:cNvSpPr/>
          <p:nvPr/>
        </p:nvSpPr>
        <p:spPr>
          <a:xfrm>
            <a:off x="8513064" y="2057400"/>
            <a:ext cx="3291840" cy="2286000"/>
          </a:xfrm>
          <a:prstGeom prst="roundRect">
            <a:avLst>
              <a:gd name="adj" fmla="val 36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833104" y="2377440"/>
            <a:ext cx="621792" cy="62179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833104" y="2377440"/>
            <a:ext cx="62179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8833104" y="315468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Recibís el veredicto</a:t>
            </a:r>
            <a:endParaRPr lang="en-US" sz="1600" dirty="0"/>
          </a:p>
        </p:txBody>
      </p:sp>
      <p:sp>
        <p:nvSpPr>
          <p:cNvPr id="20" name="Text 18"/>
          <p:cNvSpPr/>
          <p:nvPr/>
        </p:nvSpPr>
        <p:spPr>
          <a:xfrm>
            <a:off x="8833104" y="352044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de riesgo, señales concretas, explicación simple y una acción para hacer ahora.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85800" y="4663440"/>
            <a:ext cx="10820095" cy="960120"/>
          </a:xfrm>
          <a:prstGeom prst="roundRect">
            <a:avLst>
              <a:gd name="adj" fmla="val 8571"/>
            </a:avLst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97280" y="4800600"/>
            <a:ext cx="999713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 relevante: pone el conocimiento de seguridad al alcance de quien no lo tiene, exactamente en el momento en que necesita decidir si hacer clic.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aplicación web: GuardIA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Nombre, función principal, tarea específica e integración de la IA.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5193792" cy="1783080"/>
          </a:xfrm>
          <a:prstGeom prst="roundRect">
            <a:avLst>
              <a:gd name="adj" fmla="val 461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33272" y="218541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NOMBRE DE LA APP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1033272" y="244144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endParaRPr lang="en-US" sz="1900" dirty="0"/>
          </a:p>
        </p:txBody>
      </p:sp>
      <p:sp>
        <p:nvSpPr>
          <p:cNvPr id="7" name="Text 5"/>
          <p:cNvSpPr/>
          <p:nvPr/>
        </p:nvSpPr>
        <p:spPr>
          <a:xfrm>
            <a:off x="1033272" y="2880360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"guardia" —quien vigila y avisa— e "IA". Se pronuncia igual que la palabra que nombra su función.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309360" y="1965960"/>
            <a:ext cx="5193792" cy="1783080"/>
          </a:xfrm>
          <a:prstGeom prst="roundRect">
            <a:avLst>
              <a:gd name="adj" fmla="val 461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656832" y="218541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FUNCIÓN PRINCIPAL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656832" y="244144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Analizar mensajes sospechosos</a:t>
            </a:r>
            <a:endParaRPr lang="en-US" sz="1900" dirty="0"/>
          </a:p>
        </p:txBody>
      </p:sp>
      <p:sp>
        <p:nvSpPr>
          <p:cNvPr id="11" name="Text 9"/>
          <p:cNvSpPr/>
          <p:nvPr/>
        </p:nvSpPr>
        <p:spPr>
          <a:xfrm>
            <a:off x="6656832" y="2880360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Evaluar correos y mensajes que un empleado no sabe si son confiables y devolver un diagnóstico entendible, sin conocimientos técnicos.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5800" y="3931920"/>
            <a:ext cx="5193792" cy="1783080"/>
          </a:xfrm>
          <a:prstGeom prst="roundRect">
            <a:avLst>
              <a:gd name="adj" fmla="val 461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33272" y="415137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TAREA ESPECÍFICA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1033272" y="44074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Diagnóstico de phishing</a:t>
            </a:r>
            <a:endParaRPr lang="en-US" sz="1900" dirty="0"/>
          </a:p>
        </p:txBody>
      </p:sp>
      <p:sp>
        <p:nvSpPr>
          <p:cNvPr id="15" name="Text 13"/>
          <p:cNvSpPr/>
          <p:nvPr/>
        </p:nvSpPr>
        <p:spPr>
          <a:xfrm>
            <a:off x="1033272" y="4846320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solo botón: entra el texto de un mensaje, sale un nivel de riesgo con señales concretas, explicación y recomendación.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309360" y="3931920"/>
            <a:ext cx="5193792" cy="1783080"/>
          </a:xfrm>
          <a:prstGeom prst="roundRect">
            <a:avLst>
              <a:gd name="adj" fmla="val 461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656832" y="4151376"/>
            <a:ext cx="45720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INTEGRACIÓN DE LA IA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656832" y="4407408"/>
            <a:ext cx="4572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Gemini 2.5 Flash con salida dirigida</a:t>
            </a:r>
            <a:endParaRPr lang="en-US" sz="1900" dirty="0"/>
          </a:p>
        </p:txBody>
      </p:sp>
      <p:sp>
        <p:nvSpPr>
          <p:cNvPr id="19" name="Text 17"/>
          <p:cNvSpPr/>
          <p:nvPr/>
        </p:nvSpPr>
        <p:spPr>
          <a:xfrm>
            <a:off x="6656832" y="4846320"/>
            <a:ext cx="4526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texto se envía con un prompt que asigna el rol de analista de ciberseguridad, y la API garantiza que la respuesta cumpla un esquema fijo.</a:t>
            </a:r>
            <a:endParaRPr lang="en-US" sz="1150" dirty="0"/>
          </a:p>
        </p:txBody>
      </p:sp>
      <p:sp>
        <p:nvSpPr>
          <p:cNvPr id="20" name="Text 18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en funcionamiento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Construida con Streamlit: título, descripción, formulario, botón de acción y footer.</a:t>
            </a:r>
            <a:endParaRPr lang="en-US" sz="1500" dirty="0"/>
          </a:p>
        </p:txBody>
      </p:sp>
      <p:pic>
        <p:nvPicPr>
          <p:cNvPr id="4" name="Image 0" descr="/Users/agustin/Documents/Coder House/GuardIA/docs/app-formulari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88920" y="1783080"/>
            <a:ext cx="6629400" cy="431596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sección "Cómo funciona"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Dentro de la propia app, explicada para quien no sabe de seguridad informática.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2084832"/>
            <a:ext cx="457200" cy="45720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85800" y="208483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1344168" y="201168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Características clave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344168" y="232257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hace la herramienta y en qué se apoya.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85800" y="3136392"/>
            <a:ext cx="457200" cy="45720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85800" y="313639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1344168" y="30632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realizar solicitudes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44168" y="337413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Pegar el mensaje completo, sumar remitente y enlaces, quitar datos personales innecesarios.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85800" y="4187952"/>
            <a:ext cx="457200" cy="45720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85800" y="418795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344168" y="411480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esperar como resultado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44168" y="442569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de riesgo, señales, explicación simple, recomendación y verificación sugerida.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85800" y="5239512"/>
            <a:ext cx="457200" cy="457200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85800" y="5239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344168" y="516636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Información relevante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44168" y="5477256"/>
            <a:ext cx="5029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funciona por dentro, el esquema de salida y los límites de la herramienta.</a:t>
            </a:r>
            <a:endParaRPr lang="en-US" sz="1150" dirty="0"/>
          </a:p>
        </p:txBody>
      </p:sp>
      <p:pic>
        <p:nvPicPr>
          <p:cNvPr id="20" name="Image 0" descr="/Users/agustin/Documents/Coder House/GuardIA/docs/app-como-funcion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35240" y="1417320"/>
            <a:ext cx="3108960" cy="4663440"/>
          </a:xfrm>
          <a:prstGeom prst="rect">
            <a:avLst/>
          </a:prstGeom>
        </p:spPr>
      </p:pic>
      <p:sp>
        <p:nvSpPr>
          <p:cNvPr id="21" name="Text 18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prompt inicial (texto → texto)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núcleo del proyecto: el prompt que convierte al modelo en un analista de phishing.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737360"/>
            <a:ext cx="6720840" cy="4206240"/>
          </a:xfrm>
          <a:prstGeom prst="roundRect">
            <a:avLst>
              <a:gd name="adj" fmla="val 1304"/>
            </a:avLst>
          </a:prstGeom>
          <a:solidFill>
            <a:srgbClr val="0A2438"/>
          </a:solidFill>
          <a:ln w="12700">
            <a:solidFill>
              <a:srgbClr val="0A24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1883664"/>
            <a:ext cx="6318504" cy="39136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Sos un analista de ciberseguridad experto en detectar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phishing, ingeniería social y fraude por correo.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QUÉ TENÉS QUE EVALUAR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1. Remitente: dominio que no coincide, typosquatting,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correos gratuitos en nombre de una empresa.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2. Urgencia y presión: plazos imposibles, amenazas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de bloqueo, pedidos de confidencialidad.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3. Pedidos sensibles: credenciales, códigos, cambios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de CBU, transferencias, gift cards.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4. Enlaces y adjuntos: dominios que no corresponden,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acortadores, ejecutables, formularios externos.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5. Redacción y contexto: saludos genéricos, tono que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no coincide con la relación real.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6. Suplantación de autoridad: gerentes, bancos, ARCA,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proveedores o clientes conocidos.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REGLAS QUE NO PODÉS ROMPER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Basate solo en lo que aparece en el mensaje. No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inventes datos, dominios ni antecedentes.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La ausencia de señales NO garantiza legitimidad.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Nunca afirmes con certeza absoluta: ante la duda,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recomendá verificar por un canal oficial.</a:t>
            </a:r>
            <a:endParaRPr lang="en-US" sz="1000" dirty="0"/>
          </a:p>
          <a:p>
            <a:pPr algn="l" indent="0" marL="0">
              <a:lnSpc>
                <a:spcPct val="103000"/>
              </a:lnSpc>
              <a:buNone/>
            </a:pPr>
            <a:r>
              <a:rPr lang="en-US" sz="100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Escribí en lenguaje simple, sin jerga técnica.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85800" y="5989320"/>
            <a:ext cx="6720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Extracto. La versión completa está en guardia/prompts.py del repositorio.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7772400" y="17373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ESTE PROMPT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772400" y="219456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 de analista experto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7772400" y="246888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Sitúa al modelo en el dominio correcto y mejora la precisión de las señales que detecta.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7772400" y="315468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Checklist explícito</a:t>
            </a:r>
            <a:endParaRPr lang="en-US" sz="1350" dirty="0"/>
          </a:p>
        </p:txBody>
      </p:sp>
      <p:sp>
        <p:nvSpPr>
          <p:cNvPr id="11" name="Text 9"/>
          <p:cNvSpPr/>
          <p:nvPr/>
        </p:nvSpPr>
        <p:spPr>
          <a:xfrm>
            <a:off x="7772400" y="342900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 la ambigüedad: dos análisis del mismo correo dan resultados consistentes.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7772400" y="41148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Reglas anti-alucinación</a:t>
            </a:r>
            <a:endParaRPr lang="en-US" sz="1350" dirty="0"/>
          </a:p>
        </p:txBody>
      </p:sp>
      <p:sp>
        <p:nvSpPr>
          <p:cNvPr id="13" name="Text 11"/>
          <p:cNvSpPr/>
          <p:nvPr/>
        </p:nvSpPr>
        <p:spPr>
          <a:xfrm>
            <a:off x="7772400" y="438912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prohíben inventar datos y afirmar con certeza absoluta; ante la duda, verificar.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772400" y="507492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Lenguaje simple obligatorio</a:t>
            </a:r>
            <a:endParaRPr lang="en-US" sz="1350" dirty="0"/>
          </a:p>
        </p:txBody>
      </p:sp>
      <p:sp>
        <p:nvSpPr>
          <p:cNvPr id="15" name="Text 13"/>
          <p:cNvSpPr/>
          <p:nvPr/>
        </p:nvSpPr>
        <p:spPr>
          <a:xfrm>
            <a:off x="7772400" y="5349240"/>
            <a:ext cx="37490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destinatario es un empleado sin perfil técnico, no un analista.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7772400" y="5989320"/>
            <a:ext cx="3749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Temperatura 0.2: buscamos un diagnóstico estable y reproducible, no creatividad.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salida dirigida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se garantiza que la respuesta del modelo siempre tenga la misma forma.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874520"/>
            <a:ext cx="4937760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lugar de pedirle al modelo "respondeme en JSON" y confiar en que obedezca, GuardIA envía el esquema de la respuesta junto con la consulta, y la API garantiza que el resultado lo cumpla.</a:t>
            </a: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endParaRPr lang="en-US" sz="1400" dirty="0"/>
          </a:p>
          <a:p>
            <a:pPr indent="0" marL="0">
              <a:lnSpc>
                <a:spcPct val="122000"/>
              </a:lnSpc>
              <a:buNone/>
            </a:pPr>
            <a:r>
              <a:rPr lang="en-US" sz="14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resultado es que la interfaz siempre recibe la misma estructura y puede dibujarla igual en todos los casos: no hay que interpretar texto libre ni la aplicación se rompe si el modelo cambia de estilo.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4343400"/>
            <a:ext cx="4937760" cy="1417320"/>
          </a:xfrm>
          <a:prstGeom prst="roundRect">
            <a:avLst>
              <a:gd name="adj" fmla="val 5806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4526280"/>
            <a:ext cx="4297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PROTECCIÓN CONTRA INYECCIÓN DE PROMPT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1005840" y="4800600"/>
            <a:ext cx="42976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mensaje a analizar va entre delimitadores. Si el correo contiene órdenes dirigidas a una IA, se tratan como una señal de riesgo más, nunca como instrucciones a ejecutar.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172200" y="1828800"/>
            <a:ext cx="5330952" cy="3931920"/>
          </a:xfrm>
          <a:prstGeom prst="roundRect">
            <a:avLst>
              <a:gd name="adj" fmla="val 1395"/>
            </a:avLst>
          </a:prstGeom>
          <a:solidFill>
            <a:srgbClr val="0A2438"/>
          </a:solidFill>
          <a:ln w="12700">
            <a:solidFill>
              <a:srgbClr val="0A243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373368" y="1975104"/>
            <a:ext cx="4928616" cy="3639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"tipo_de_engano": "técnica detectada",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"senales": [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{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"titulo": "nombre breve",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"detalle": "qué lo dispara y por qué",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"gravedad": "baja | media | alta"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}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],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"puntaje": 0-100,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"nivel_riesgo": "bajo | medio | alto |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indeterminado",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"explicacion": "en lenguaje simple",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"recomendacion": "qué hacer ahora",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"verificacion_sugerida": "cómo confirmarlo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                    por canal oficial"</a:t>
            </a:r>
            <a:endParaRPr lang="en-US" sz="1150" dirty="0"/>
          </a:p>
          <a:p>
            <a:pPr algn="l"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6172200" y="5852160"/>
            <a:ext cx="5330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orden no es casual: el modelo detecta las señales antes de puntuar y de redactar, así el texto se apoya en lo que ya identificó.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Cómo está organizado el código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interfaz separada de la lógica, y todo lo que le pedimos a la IA en un solo archivo.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6035040" cy="3200400"/>
          </a:xfrm>
          <a:prstGeom prst="roundRect">
            <a:avLst>
              <a:gd name="adj" fmla="val 1714"/>
            </a:avLst>
          </a:prstGeom>
          <a:solidFill>
            <a:srgbClr val="0A2438"/>
          </a:solidFill>
          <a:ln w="12700">
            <a:solidFill>
              <a:srgbClr val="0A243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86968" y="2020824"/>
            <a:ext cx="5632704" cy="2907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GuardIA/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app.py            interfaz web (Streamlit)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guardia/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prompts.py    prompt y esquema de salida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analisis.py   cliente de Gemini y consumo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ejemplos.py   mensajes de prueba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├── .streamlit/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├── config.toml   paleta de colores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│   └── secrets.toml  la clave (fuera del repo)</a:t>
            </a:r>
            <a:endParaRPr lang="en-US" sz="1150" dirty="0"/>
          </a:p>
          <a:p>
            <a:pPr algn="l"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D6E4E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└── requirements.txt  dependencias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685800" y="5257800"/>
            <a:ext cx="6035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las funciones están documentadas y los bloques comentados explican el porqué de cada decisión, no lo que ya dice el código.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60920" y="1929384"/>
            <a:ext cx="420624" cy="42062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60920" y="19293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7973568" y="187452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interfaz no sabe de IA</a:t>
            </a:r>
            <a:endParaRPr lang="en-US" sz="1350" dirty="0"/>
          </a:p>
        </p:txBody>
      </p:sp>
      <p:sp>
        <p:nvSpPr>
          <p:cNvPr id="10" name="Text 8"/>
          <p:cNvSpPr/>
          <p:nvPr/>
        </p:nvSpPr>
        <p:spPr>
          <a:xfrm>
            <a:off x="7973568" y="2167128"/>
            <a:ext cx="3566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app.py solo llama a funciones del paquete guardia/. Cambiar de proveedor implica reescribir un archivo y ninguno más.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7360920" y="2962656"/>
            <a:ext cx="420624" cy="42062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7360920" y="2962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7973568" y="290779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prompts, en un solo lugar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7973568" y="3200400"/>
            <a:ext cx="3566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Ajustar el comportamiento del análisis no obliga a tocar la interfaz ni las llamadas a la API.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7360920" y="3995928"/>
            <a:ext cx="420624" cy="42062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60920" y="3995928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7973568" y="3941064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errores llegan traducidos</a:t>
            </a:r>
            <a:endParaRPr lang="en-US" sz="1350" dirty="0"/>
          </a:p>
        </p:txBody>
      </p:sp>
      <p:sp>
        <p:nvSpPr>
          <p:cNvPr id="18" name="Text 16"/>
          <p:cNvSpPr/>
          <p:nvPr/>
        </p:nvSpPr>
        <p:spPr>
          <a:xfrm>
            <a:off x="7973568" y="4233672"/>
            <a:ext cx="3566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"429 RESOURCE_EXHAUSTED" no le sirve a nadie: la app lo convierte en una explicación con la acción a seguir.</a:t>
            </a:r>
            <a:endParaRPr lang="en-US" sz="1050" dirty="0"/>
          </a:p>
        </p:txBody>
      </p:sp>
      <p:sp>
        <p:nvSpPr>
          <p:cNvPr id="19" name="Shape 17"/>
          <p:cNvSpPr/>
          <p:nvPr/>
        </p:nvSpPr>
        <p:spPr>
          <a:xfrm>
            <a:off x="7360920" y="5029200"/>
            <a:ext cx="420624" cy="42062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7360920" y="50292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7973568" y="4974336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clave nunca está en el código</a:t>
            </a:r>
            <a:endParaRPr lang="en-US" sz="1350" dirty="0"/>
          </a:p>
        </p:txBody>
      </p:sp>
      <p:sp>
        <p:nvSpPr>
          <p:cNvPr id="22" name="Text 20"/>
          <p:cNvSpPr/>
          <p:nvPr/>
        </p:nvSpPr>
        <p:spPr>
          <a:xfrm>
            <a:off x="7973568" y="5266944"/>
            <a:ext cx="356616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lee de los secretos de Streamlit o del entorno, y el archivo está excluido del repositorio.</a:t>
            </a:r>
            <a:endParaRPr lang="en-US" sz="1050" dirty="0"/>
          </a:p>
        </p:txBody>
      </p:sp>
      <p:sp>
        <p:nvSpPr>
          <p:cNvPr id="23" name="Text 21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Decisiones técnicas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Gemini, y qué queda para la próxima versión.</a:t>
            </a:r>
            <a:endParaRPr lang="en-US" sz="1500" dirty="0"/>
          </a:p>
        </p:txBody>
      </p:sp>
      <p:sp>
        <p:nvSpPr>
          <p:cNvPr id="4" name="Text 2"/>
          <p:cNvSpPr/>
          <p:nvPr/>
        </p:nvSpPr>
        <p:spPr>
          <a:xfrm>
            <a:off x="685800" y="1828800"/>
            <a:ext cx="63093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2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QUÉ ESTE MODELO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85800" y="2212848"/>
            <a:ext cx="6309360" cy="1152144"/>
          </a:xfrm>
          <a:prstGeom prst="roundRect">
            <a:avLst>
              <a:gd name="adj" fmla="val 7143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60120" y="2542032"/>
            <a:ext cx="493776" cy="493776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60120" y="2542032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1645920" y="2359152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Nivel gratuito real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1645920" y="2670048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familia Flash de Gemini figura como "free of charge" en la documentación oficial: la herramienta se opera sin costo y sin tarjeta de crédito.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685800" y="3511296"/>
            <a:ext cx="6309360" cy="1152144"/>
          </a:xfrm>
          <a:prstGeom prst="roundRect">
            <a:avLst>
              <a:gd name="adj" fmla="val 7143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960120" y="3840480"/>
            <a:ext cx="493776" cy="493776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0120" y="3840480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645920" y="3657600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Salida dirigida con esquema</a:t>
            </a:r>
            <a:endParaRPr lang="en-US" sz="1450" dirty="0"/>
          </a:p>
        </p:txBody>
      </p:sp>
      <p:sp>
        <p:nvSpPr>
          <p:cNvPr id="14" name="Text 12"/>
          <p:cNvSpPr/>
          <p:nvPr/>
        </p:nvSpPr>
        <p:spPr>
          <a:xfrm>
            <a:off x="1645920" y="3968496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lo que exige la consigna y lo que vuelve confiable a la app: la API garantiza la estructura de la respuesta.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685800" y="4809744"/>
            <a:ext cx="6309360" cy="1152144"/>
          </a:xfrm>
          <a:prstGeom prst="roundRect">
            <a:avLst>
              <a:gd name="adj" fmla="val 7143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960120" y="5138928"/>
            <a:ext cx="493776" cy="493776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60120" y="5138928"/>
            <a:ext cx="493776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1645920" y="4956048"/>
            <a:ext cx="5120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cero como parte de la propuesta</a:t>
            </a:r>
            <a:endParaRPr lang="en-US" sz="1450" dirty="0"/>
          </a:p>
        </p:txBody>
      </p:sp>
      <p:sp>
        <p:nvSpPr>
          <p:cNvPr id="19" name="Text 17"/>
          <p:cNvSpPr/>
          <p:nvPr/>
        </p:nvSpPr>
        <p:spPr>
          <a:xfrm>
            <a:off x="1645920" y="5266944"/>
            <a:ext cx="51206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la herramienta apunta a PyMEs sin presupuesto de seguridad, que su operación no cueste nada no es un detalle: es parte del argumento.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7360920" y="1828800"/>
            <a:ext cx="4160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9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 FUTURO: LA PLACA DE CONCIENTIZACIÓN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7360920" y="2194560"/>
            <a:ext cx="2148840" cy="3017520"/>
          </a:xfrm>
          <a:prstGeom prst="roundRect">
            <a:avLst>
              <a:gd name="adj" fmla="val 2128"/>
            </a:avLst>
          </a:prstGeom>
          <a:solidFill>
            <a:srgbClr val="FFFFFF"/>
          </a:solidFill>
          <a:ln w="15875">
            <a:solidFill>
              <a:srgbClr val="DFE6EC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60920" y="2194560"/>
            <a:ext cx="2148840" cy="384048"/>
          </a:xfrm>
          <a:prstGeom prst="rect">
            <a:avLst/>
          </a:prstGeom>
          <a:solidFill>
            <a:srgbClr val="0B2E4F"/>
          </a:solidFill>
          <a:ln w="12700">
            <a:solidFill>
              <a:srgbClr val="0B2E4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488936" y="2249424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</a:t>
            </a:r>
            <a:pPr indent="0" marL="0">
              <a:buNone/>
            </a:pPr>
            <a:r>
              <a:rPr lang="en-US" sz="12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360920" y="2578608"/>
            <a:ext cx="2148840" cy="1188720"/>
          </a:xfrm>
          <a:prstGeom prst="rect">
            <a:avLst/>
          </a:prstGeom>
          <a:solidFill>
            <a:srgbClr val="DCE8F0"/>
          </a:solidFill>
          <a:ln w="12700">
            <a:solidFill>
              <a:srgbClr val="DCE8F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360920" y="2578608"/>
            <a:ext cx="2148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5F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ilustración</a:t>
            </a:r>
            <a:endParaRPr lang="en-US" sz="950" dirty="0"/>
          </a:p>
          <a:p>
            <a:pPr algn="ctr" indent="0" marL="0">
              <a:buNone/>
            </a:pPr>
            <a:r>
              <a:rPr lang="en-US" sz="950" i="1" dirty="0">
                <a:solidFill>
                  <a:srgbClr val="5F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generada con IA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7488936" y="3895344"/>
            <a:ext cx="932688" cy="256032"/>
          </a:xfrm>
          <a:prstGeom prst="roundRect">
            <a:avLst>
              <a:gd name="adj" fmla="val 50000"/>
            </a:avLst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488936" y="3895344"/>
            <a:ext cx="9326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RIESGO ALTO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7488936" y="4206240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Suplantación de banco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507224" y="4581144"/>
            <a:ext cx="64008" cy="640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635240" y="4517136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dominio no es el del banco</a:t>
            </a:r>
            <a:endParaRPr lang="en-US" sz="750" dirty="0"/>
          </a:p>
        </p:txBody>
      </p:sp>
      <p:sp>
        <p:nvSpPr>
          <p:cNvPr id="31" name="Shape 29"/>
          <p:cNvSpPr/>
          <p:nvPr/>
        </p:nvSpPr>
        <p:spPr>
          <a:xfrm>
            <a:off x="7507224" y="4773168"/>
            <a:ext cx="64008" cy="640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7635240" y="4709160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Amenaza con bloquear la cuenta</a:t>
            </a:r>
            <a:endParaRPr lang="en-US" sz="750" dirty="0"/>
          </a:p>
        </p:txBody>
      </p:sp>
      <p:sp>
        <p:nvSpPr>
          <p:cNvPr id="33" name="Shape 31"/>
          <p:cNvSpPr/>
          <p:nvPr/>
        </p:nvSpPr>
        <p:spPr>
          <a:xfrm>
            <a:off x="7507224" y="4965192"/>
            <a:ext cx="64008" cy="64008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635240" y="4901184"/>
            <a:ext cx="1828800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Pide clave y datos de tarjeta</a:t>
            </a:r>
            <a:endParaRPr lang="en-US" sz="750" dirty="0"/>
          </a:p>
        </p:txBody>
      </p:sp>
      <p:sp>
        <p:nvSpPr>
          <p:cNvPr id="35" name="Text 33"/>
          <p:cNvSpPr/>
          <p:nvPr/>
        </p:nvSpPr>
        <p:spPr>
          <a:xfrm>
            <a:off x="9692640" y="2194560"/>
            <a:ext cx="182880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pieza visual generada con un modelo texto → imagen a partir del diagnóstico, para compartir por el grupo interno de la empresa y convertir cada intento de phishing en material de capacitación.</a:t>
            </a: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endParaRPr lang="en-US" sz="950" dirty="0"/>
          </a:p>
          <a:p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Quedó fuera de esta versión porque la generación de imágenes no está disponible en los niveles gratuitos, y operar sin costo es parte de la propuesta.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Factibilidad económica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costo de operar la herramienta es cero: nivel gratuito de la API y hosting sin cargo.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3429000" cy="1463040"/>
          </a:xfrm>
          <a:prstGeom prst="roundRect">
            <a:avLst>
              <a:gd name="adj" fmla="val 562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8408" y="201168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US$ 0</a:t>
            </a:r>
            <a:endParaRPr lang="en-US" sz="3200" dirty="0"/>
          </a:p>
        </p:txBody>
      </p:sp>
      <p:sp>
        <p:nvSpPr>
          <p:cNvPr id="6" name="Text 4"/>
          <p:cNvSpPr/>
          <p:nvPr/>
        </p:nvSpPr>
        <p:spPr>
          <a:xfrm>
            <a:off x="978408" y="26700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consulta y por mes, en el nivel gratuito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370832" y="1874520"/>
            <a:ext cx="3429000" cy="1463040"/>
          </a:xfrm>
          <a:prstGeom prst="roundRect">
            <a:avLst>
              <a:gd name="adj" fmla="val 562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663440" y="201168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US$ 0</a:t>
            </a:r>
            <a:endParaRPr lang="en-US" sz="3200" dirty="0"/>
          </a:p>
        </p:txBody>
      </p:sp>
      <p:sp>
        <p:nvSpPr>
          <p:cNvPr id="9" name="Text 7"/>
          <p:cNvSpPr/>
          <p:nvPr/>
        </p:nvSpPr>
        <p:spPr>
          <a:xfrm>
            <a:off x="4663440" y="26700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hosting en Streamlit Community Cloud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8055864" y="1874520"/>
            <a:ext cx="3429000" cy="1463040"/>
          </a:xfrm>
          <a:prstGeom prst="roundRect">
            <a:avLst>
              <a:gd name="adj" fmla="val 5625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348472" y="2011680"/>
            <a:ext cx="2834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 tarjeta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8348472" y="2670048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hace falta medio de pago para producción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85800" y="352044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referencia de escalabilidad, cada análisis consume unos 1.500 tokens de entrada y 500 de salida. Esto costaría en el nivel pago:</a:t>
            </a:r>
            <a:endParaRPr lang="en-US" sz="12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3977640"/>
          <a:ext cx="731520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1645920"/>
                <a:gridCol w="1737360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CONCEPTO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NIVEL GRATUITO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EQUIVALENTE PAGO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2E4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3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análisis (gemini-2.5-flash)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7A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US$ 0,0017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3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500 análisis por mes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7A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US$ 0,85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3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5.000 análisis por mes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7A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US$ 8,50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3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Hosting en Streamlit Community Cloud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7A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26323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Repositorio (GitHub) y entorno (Python, VS Code)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b="1" dirty="0">
                          <a:solidFill>
                            <a:srgbClr val="1F7A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50" dirty="0">
                          <a:solidFill>
                            <a:srgbClr val="6B7C8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US$ 0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FE6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15" name="Shape 12"/>
          <p:cNvSpPr/>
          <p:nvPr/>
        </p:nvSpPr>
        <p:spPr>
          <a:xfrm>
            <a:off x="8366760" y="3520440"/>
            <a:ext cx="3136392" cy="2286000"/>
          </a:xfrm>
          <a:prstGeom prst="roundRect">
            <a:avLst>
              <a:gd name="adj" fmla="val 36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8366760" y="3657600"/>
            <a:ext cx="31363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9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APP MIDE SU PROPIO CONSUMO</a:t>
            </a:r>
            <a:endParaRPr lang="en-US" sz="950" dirty="0"/>
          </a:p>
        </p:txBody>
      </p:sp>
      <p:pic>
        <p:nvPicPr>
          <p:cNvPr id="17" name="Image 0" descr="/Users/agustin/Documents/Coder House/GuardIA/docs/app-consu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052560" y="3977640"/>
            <a:ext cx="1764792" cy="1700784"/>
          </a:xfrm>
          <a:prstGeom prst="rect">
            <a:avLst/>
          </a:prstGeom>
        </p:spPr>
      </p:pic>
      <p:sp>
        <p:nvSpPr>
          <p:cNvPr id="18" name="Text 14"/>
          <p:cNvSpPr/>
          <p:nvPr/>
        </p:nvSpPr>
        <p:spPr>
          <a:xfrm>
            <a:off x="685800" y="58704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Precios del nivel pago vigentes en agosto de 2026: US$ 0,30 por millón de tokens de entrada y US$ 2,50 por millón de salida (gemini-2.5-flash).</a:t>
            </a:r>
            <a:endParaRPr lang="en-US" sz="950" dirty="0"/>
          </a:p>
        </p:txBody>
      </p:sp>
      <p:sp>
        <p:nvSpPr>
          <p:cNvPr id="19" name="Text 15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0" name="Text 16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Limitaciones y consideraciones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 honesto respecto de los límites de la herramienta también forma parte de su diseño.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20240"/>
            <a:ext cx="5193792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194560"/>
            <a:ext cx="475488" cy="47548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645920" y="219456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Alucinaciones y falsos negativos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33272" y="2788920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modelo puede equivocarse en ambos sentidos. GuardIA se presenta como un asistente, no como un veredicto final: siempre recomienda verificar por un canal oficial.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309360" y="1920240"/>
            <a:ext cx="5193792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629400" y="2194560"/>
            <a:ext cx="475488" cy="47548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629400" y="219456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269480" y="219456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sensibles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656832" y="2788920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texto se envía a la API de Google Gemini. No debe pegarse información confidencial innecesaria; en un uso productivo correspondería anonimizar y contemplar acuerdos de tratamiento de datos.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85800" y="3931920"/>
            <a:ext cx="5193792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4206240"/>
            <a:ext cx="475488" cy="47548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4206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645920" y="42062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Cupos del nivel gratuito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1033272" y="4800600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nivel gratuito limita las consultas por minuto y por día. Son holgados para una PyME, pero un pico de tráfico podría agotarlos temporalmente.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309360" y="3931920"/>
            <a:ext cx="5193792" cy="1828800"/>
          </a:xfrm>
          <a:prstGeom prst="roundRect">
            <a:avLst>
              <a:gd name="adj" fmla="val 4500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29400" y="4206240"/>
            <a:ext cx="475488" cy="475488"/>
          </a:xfrm>
          <a:prstGeom prst="ellipse">
            <a:avLst/>
          </a:prstGeom>
          <a:solidFill>
            <a:srgbClr val="D64545"/>
          </a:solidFill>
          <a:ln w="12700">
            <a:solidFill>
              <a:srgbClr val="D64545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29400" y="420624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7269480" y="4206240"/>
            <a:ext cx="402336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Alcance acotado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6656832" y="4800600"/>
            <a:ext cx="452628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15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Está pensada para phishing por texto: no abre adjuntos ni sigue enlaces. No reemplaza al antivirus, a los filtros de correo ni al MFA, sino que los complementa.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Enlaces del proyecto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desplegada, código fuente y demostración.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10820095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240280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83080" y="203911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APLICACIÓN DESPLEGADA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1783080" y="22585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Community Cloud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783080" y="26060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puede interactuar con la app desde el navegador, sin instalar nada.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92240" y="2258568"/>
            <a:ext cx="4754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1F7A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22585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https://guardia.streamlit.app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85800" y="3246120"/>
            <a:ext cx="10820095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3611880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36118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783080" y="341071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FUENTE</a:t>
            </a:r>
            <a:endParaRPr lang="en-US" sz="950" dirty="0"/>
          </a:p>
        </p:txBody>
      </p:sp>
      <p:sp>
        <p:nvSpPr>
          <p:cNvPr id="16" name="Text 14"/>
          <p:cNvSpPr/>
          <p:nvPr/>
        </p:nvSpPr>
        <p:spPr>
          <a:xfrm>
            <a:off x="1783080" y="36301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Repositorio en GitHub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1783080" y="39776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comentado y organizado: app.py para la interfaz y el paquete guardia/ para la lógica.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92240" y="3630168"/>
            <a:ext cx="4754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1F7A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0" y="36301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https://github.com/usuario/guardia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85800" y="4617720"/>
            <a:ext cx="10820095" cy="1234440"/>
          </a:xfrm>
          <a:prstGeom prst="roundRect">
            <a:avLst>
              <a:gd name="adj" fmla="val 6667"/>
            </a:avLst>
          </a:prstGeom>
          <a:solidFill>
            <a:srgbClr val="F4F7F9"/>
          </a:solidFill>
          <a:ln w="12700">
            <a:solidFill>
              <a:srgbClr val="DFE6EC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1005840" y="4983480"/>
            <a:ext cx="512064" cy="512064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9834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1783080" y="4782312"/>
            <a:ext cx="4114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10" kern="0" dirty="0">
                <a:solidFill>
                  <a:srgbClr val="1F7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DEMOSTRACIÓN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783080" y="5001768"/>
            <a:ext cx="4114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2E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Video del funcionamiento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1783080" y="534924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100" dirty="0">
                <a:solidFill>
                  <a:srgbClr val="26323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Recorrido por la app: análisis de un correo legítimo y de uno fraudulento.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492240" y="5001768"/>
            <a:ext cx="4754880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5875">
            <a:solidFill>
              <a:srgbClr val="1F7A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583680" y="5001768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F7A8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https://youtu.be/video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85800" y="603504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D645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Reemplazá las tres direcciones de arriba por los enlaces definitivos antes de entregar.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7C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2E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4114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Conclusiones</a:t>
            </a:r>
            <a:endParaRPr lang="en-US" sz="3600" dirty="0"/>
          </a:p>
        </p:txBody>
      </p:sp>
      <p:sp>
        <p:nvSpPr>
          <p:cNvPr id="3" name="Text 1"/>
          <p:cNvSpPr/>
          <p:nvPr/>
        </p:nvSpPr>
        <p:spPr>
          <a:xfrm>
            <a:off x="685800" y="1133856"/>
            <a:ext cx="100584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500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Sobre la importancia de la propuesta y el impacto esperado.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85800" y="1965960"/>
            <a:ext cx="10820095" cy="1261872"/>
          </a:xfrm>
          <a:prstGeom prst="roundRect">
            <a:avLst>
              <a:gd name="adj" fmla="val 6522"/>
            </a:avLst>
          </a:prstGeom>
          <a:solidFill>
            <a:srgbClr val="10395C"/>
          </a:solidFill>
          <a:ln w="12700">
            <a:solidFill>
              <a:srgbClr val="1B4B72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005840" y="2331720"/>
            <a:ext cx="530352" cy="53035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05840" y="233172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783080" y="2130552"/>
            <a:ext cx="9509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problema real, con una solución concreta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783080" y="2478024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D6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 aborda un problema frecuente y costoso con una herramienta simple, técnicamente realizable y de costo operativo cero: cualquier PyME puede usarla sin presupuesto ni equipo de seguridad.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85800" y="3383280"/>
            <a:ext cx="10820095" cy="1261872"/>
          </a:xfrm>
          <a:prstGeom prst="roundRect">
            <a:avLst>
              <a:gd name="adj" fmla="val 6522"/>
            </a:avLst>
          </a:prstGeom>
          <a:solidFill>
            <a:srgbClr val="10395C"/>
          </a:solidFill>
          <a:ln w="12700">
            <a:solidFill>
              <a:srgbClr val="1B4B7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3749040"/>
            <a:ext cx="530352" cy="53035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74904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783080" y="3547872"/>
            <a:ext cx="9509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IA aplicada donde realmente aporta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783080" y="3895344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D6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 si un correo es confiable combina lenguaje, contexto y criterio: exactamente donde un modelo de lenguaje suma. Y la salida dirigida es lo que convierte una respuesta de chat en una funcionalidad confiable.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85800" y="4800600"/>
            <a:ext cx="10820095" cy="1261872"/>
          </a:xfrm>
          <a:prstGeom prst="roundRect">
            <a:avLst>
              <a:gd name="adj" fmla="val 6522"/>
            </a:avLst>
          </a:prstGeom>
          <a:solidFill>
            <a:srgbClr val="10395C"/>
          </a:solidFill>
          <a:ln w="12700">
            <a:solidFill>
              <a:srgbClr val="1B4B7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005840" y="5166360"/>
            <a:ext cx="530352" cy="530352"/>
          </a:xfrm>
          <a:prstGeom prst="ellipse">
            <a:avLst/>
          </a:prstGeom>
          <a:solidFill>
            <a:srgbClr val="1F7A8C"/>
          </a:solidFill>
          <a:ln w="12700">
            <a:solidFill>
              <a:srgbClr val="1F7A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5840" y="5166360"/>
            <a:ext cx="530352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1783080" y="4965192"/>
            <a:ext cx="9509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impacto está en el momento de la decisión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783080" y="5312664"/>
            <a:ext cx="95097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200" dirty="0">
                <a:solidFill>
                  <a:srgbClr val="D6E4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valor de la propuesta es poner el conocimiento de seguridad al alcance de quien no lo tiene, exactamente cuando necesita decidir si hacer clic. Y al no tener costo de operación, esa ayuda llega también a las empresas que hoy no pueden pagar por seguridad.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85800" y="6355080"/>
            <a:ext cx="10271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7E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GuardIA</a:t>
            </a:r>
            <a:pPr indent="0" marL="0">
              <a:buNone/>
            </a:pPr>
            <a:r>
              <a:rPr lang="en-US" sz="900" dirty="0">
                <a:solidFill>
                  <a:srgbClr val="7E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Proyecto Final — Prompt Engineering para Programadores · CoderHouse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1048695" y="635508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7E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2E4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2286000"/>
            <a:ext cx="12191695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Guard</a:t>
            </a:r>
            <a:pPr algn="ctr" indent="0" marL="0">
              <a:buNone/>
            </a:pPr>
            <a:r>
              <a:rPr lang="en-US" sz="8000" b="1" dirty="0">
                <a:solidFill>
                  <a:srgbClr val="8FD3E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IA</a:t>
            </a:r>
            <a:endParaRPr lang="en-US" sz="8000" dirty="0"/>
          </a:p>
        </p:txBody>
      </p:sp>
      <p:sp>
        <p:nvSpPr>
          <p:cNvPr id="3" name="Text 1"/>
          <p:cNvSpPr/>
          <p:nvPr/>
        </p:nvSpPr>
        <p:spPr>
          <a:xfrm>
            <a:off x="0" y="3611880"/>
            <a:ext cx="121916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C9DD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Seguridad al alcance de cualquier PyME.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0" y="5120640"/>
            <a:ext cx="121916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7E9B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Agustín Idoyaga Molina  ·  Comisión #95920  ·  Proyecto Final, CoderHouse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GuardIA — Proyecto Final</dc:title>
  <dc:subject>PptxGenJS Presentation</dc:subject>
  <dc:creator>Agustín Idoyaga Molina</dc:creator>
  <cp:lastModifiedBy>Agustín Idoyaga Molina</cp:lastModifiedBy>
  <cp:revision>1</cp:revision>
  <dcterms:created xsi:type="dcterms:W3CDTF">2026-08-16T16:20:41Z</dcterms:created>
  <dcterms:modified xsi:type="dcterms:W3CDTF">2026-08-16T16:20:41Z</dcterms:modified>
</cp:coreProperties>
</file>