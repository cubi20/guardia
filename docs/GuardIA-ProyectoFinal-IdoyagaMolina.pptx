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Final. GuardIA es una aplicación web hecha con Streamlit que integra IA para analizar correos y mensajes sospechosos y devolver un diagnóstico entendible.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introducción conecta el uso de IA con el problema elegido: es una tarea de lenguaje y criterio, justo donde un LLM aporta.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datos que dimensionan el problema. El tercero explica por qué el problema creció justamente ahora.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Elección del problema: relevancia social, cercanía personal e impacto medible.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es deliberadamente simple porque está pensado para personas sin conocimientos técnicos.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puntos que pide la consigna sobre la propuesta de aplicación web con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de la aplicación. Incluye ejemplos cargados para que cualquiera pueda probarla sin tener un correo sospechoso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consigna pide una sección 'cómo funciona' con características clave, cómo hacer solicitudes y qué esperar. Está resuelta dentro de la app, no solo en la documentación.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prompt combina rol, checklist y reglas. Las reglas finales son el control explícito de alucinaciones.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Outputs es lo que hace que la app sea confiable: la estructura está garantizada por la API, no por la buena voluntad del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consigna pide código organizado de manera lógica y comentado adecuadamente. La separación entre interfaz y lógica es la decisión estructural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pre-entrega proponía OpenAI y dos modelos. El cambio a Gemini responde a una restricción concreta —operar sin costo— y la placa queda documentada como próxima función.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costo real es cero. La columna de la derecha responde a la pregunta "¿y si esto lo usaran mil personas?": incluso pagando, el gasto es marginal frente al costo de un solo incidente.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Reconocer los límites es parte del diseño responsable de una herramienta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compartir: pegar la URL real de Streamlit, la del repositorio de GitHub y la del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qué resuelve, cómo lo resuelve y por qué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1463040"/>
            <a:ext cx="3840480" cy="3840480"/>
          </a:xfrm>
          <a:prstGeom prst="ellipse">
            <a:avLst/>
          </a:prstGeom>
          <a:solidFill>
            <a:srgbClr val="0B2E4F"/>
          </a:solidFill>
          <a:ln w="19050">
            <a:solidFill>
              <a:srgbClr val="1B4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965960"/>
            <a:ext cx="2834640" cy="2834640"/>
          </a:xfrm>
          <a:prstGeom prst="ellipse">
            <a:avLst/>
          </a:prstGeom>
          <a:solidFill>
            <a:srgbClr val="0B2E4F"/>
          </a:solidFill>
          <a:ln w="19050">
            <a:solidFill>
              <a:srgbClr val="215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9720" y="2468880"/>
            <a:ext cx="1828800" cy="1828800"/>
          </a:xfrm>
          <a:prstGeom prst="ellipse">
            <a:avLst/>
          </a:prstGeom>
          <a:solidFill>
            <a:srgbClr val="0B2E4F"/>
          </a:solidFill>
          <a:ln w="19050">
            <a:solidFill>
              <a:srgbClr val="215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2926080"/>
            <a:ext cx="914400" cy="9144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7772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  ·   PROMPT ENGINEERING PARA PROGRAMADORES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pPr indent="0" marL="0">
              <a:buNone/>
            </a:pPr>
            <a:r>
              <a:rPr lang="en-US" sz="9600" b="1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9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anti-phishing con inteligencia artificial para PyMEs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462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Agustín Idoyaga Molina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23560" y="4206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4462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#95920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5074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5330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para Programadores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23560" y="5074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5330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Agosto 2026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617220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Diplomatura en Inteligencia Artificial · CoderHouse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usar inteligencia artificial para resolver este problema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generativa dejó de ser una promesa para convertirse en una herramienta de trabajo: hoy permite resolver, con pocas líneas de código y a un costo mínimo, tareas que antes exigían un equipo especializado.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la aplica a un problema concreto y cotidiano: decidir si un correo es confiable. Es una tarea que combina lenguaje, contexto y criterio, exactamente donde un modelo de lenguaje aporta valor, y que hoy recae en personas sin formación técnica que deben resolverla en pocos segundos.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874520"/>
            <a:ext cx="4599432" cy="1078992"/>
          </a:xfrm>
          <a:prstGeom prst="roundRect">
            <a:avLst>
              <a:gd name="adj" fmla="val 7627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157984"/>
            <a:ext cx="512064" cy="51206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2157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18120" y="2029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humano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1812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barrera técnica evita que un mensaje llegue a la bandeja de entrada y que una persona tenga que decidir.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03720" y="3108960"/>
            <a:ext cx="4599432" cy="1078992"/>
          </a:xfrm>
          <a:prstGeom prst="roundRect">
            <a:avLst>
              <a:gd name="adj" fmla="val 7627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3392424"/>
            <a:ext cx="512064" cy="51206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3392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18120" y="3264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agravó el problema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18120" y="3566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correos fraudulentos ya no se detectan por su mala redacción: hoy se escriben perfectos.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4343400"/>
            <a:ext cx="4599432" cy="1078992"/>
          </a:xfrm>
          <a:prstGeom prst="roundRect">
            <a:avLst>
              <a:gd name="adj" fmla="val 7627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4626864"/>
            <a:ext cx="512064" cy="51206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46268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4498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puede resolverlo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18120" y="4800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IA volvió el engaño más convincente, esa misma tecnología puede analizarlo y explicarlo.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problemática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phishing es la puerta de entrada más común a los ataques informáticos, y las PyMEs son el eslabón más vulnerable.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phishing son correos o mensajes que se hacen pasar por una entidad confiable —un banco, un proveedor, un cliente o un compañero de trabajo— para que la persona haga clic en un enlace, descargue un archivo o entregue sus credenciales. El problema no es tecnológico sino humano: por más filtros que tenga una empresa, siempre hay un mensaje que llega y una persona que debe decidir en pocos segundos.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337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05840" y="4251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brechas de datos involucran el factor humano: un clic, un descuido, un engaño.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320040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3337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690872" y="4251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brechas en PyMEs incluyen ransomware, que muchas veces empieza con un simple correo.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55864" y="320040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3337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×3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375904" y="4251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creció el phishing en el último período, potenciado por IA que redacta mensajes impecables.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Verizon Data Breach Investigations Report (DBIR) 2025.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problemática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real, cercano y con una solución al alcance.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820095" cy="1243584"/>
          </a:xfrm>
          <a:prstGeom prst="roundRect">
            <a:avLst>
              <a:gd name="adj" fmla="val 6618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1343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13055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más a quien menos puede defenderse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46888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PyME rara vez tiene un equipo de seguridad informática, un plan de capacitación o presupuesto para herramientas comerciales. Sin embargo maneja datos de clientes, facturación y transferencias: un solo incidente puede paralizar su operación durante días.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355848"/>
            <a:ext cx="10820095" cy="1243584"/>
          </a:xfrm>
          <a:prstGeom prst="roundRect">
            <a:avLst>
              <a:gd name="adj" fmla="val 6618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70332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5204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problema que conozco de cerca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8587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cursando la Licenciatura en Ciberseguridad y trabajo en el área administrativa de una clínica, donde veo a diario cómo circulan correos con pedidos de pagos, remitos y facturas, y cómo cualquier empleado puede recibir un mensaje sospechoso sin tener herramientas para evaluarlo.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745736"/>
            <a:ext cx="10820095" cy="1243584"/>
          </a:xfrm>
          <a:prstGeom prst="roundRect">
            <a:avLst>
              <a:gd name="adj" fmla="val 6618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5093208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91032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es inmediato y medible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248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de consulta reduce el riesgo justo en el momento de la decisión, cuando la persona está por hacer clic. A diferencia de una capacitación anual —que se olvida— está disponible siempre que aparece la duda.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propuesta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donde cualquier empleado pega un mensaje sospechoso y recibe un diagnóstico claro en segundos.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77440"/>
            <a:ext cx="621792" cy="62179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Pegás el mensaje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Copiás el correo o mensaje que te genera dudas. Si podés, sumás el remitente y los enlaces.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32504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99432" y="205740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2377440"/>
            <a:ext cx="621792" cy="62179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377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19472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lo analiza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19472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dominio del remitente, la urgencia, qué te piden, los enlaces y la redacción.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46136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8513064" y="205740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2377440"/>
            <a:ext cx="621792" cy="62179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33104" y="2377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33104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Recibís el veredicto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33104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riesgo, señales concretas, explicación simple y una acción para hacer ahora.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663440"/>
            <a:ext cx="10820095" cy="960120"/>
          </a:xfrm>
          <a:prstGeom prst="roundRect">
            <a:avLst>
              <a:gd name="adj" fmla="val 857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800600"/>
            <a:ext cx="9997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relevante: pone el conocimiento de seguridad al alcance de quien no lo tiene, exactamente en el momento en que necesita decidir si hacer clic.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web: GuardIA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función principal, tarea específica e integración de la IA.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193792" cy="178308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21854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LA 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" y="24414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33272" y="288036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"guardia" —quien vigila y avisa— e "IA". Se pronuncia igual que la palabra que nombra su función.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193792" cy="178308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21854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PRINCIPAL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56832" y="24414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mensajes sospechosos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56832" y="288036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correos y mensajes que un empleado no sabe si son confiables y devolver un diagnóstico entendible, sin conocimientos técnicos.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5193792" cy="178308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4151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ESPECÍFICA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3272" y="4407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phishing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33272" y="484632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botón: entra el texto de un mensaje, sale un nivel de riesgo con señales concretas, explicación y recomendación.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931920"/>
            <a:ext cx="5193792" cy="178308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4151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LA 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56832" y="4407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con salida dirigida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56832" y="484632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se envía con un prompt que asigna el rol de analista de ciberseguridad, y la API garantiza que la respuesta cumpla un esquema fijo.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en funcionamiento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 con Streamlit: título, descripción, formulario, botón de acción y footer.</a:t>
            </a:r>
            <a:endParaRPr lang="en-US" sz="1500" dirty="0"/>
          </a:p>
        </p:txBody>
      </p:sp>
      <p:pic>
        <p:nvPicPr>
          <p:cNvPr id="4" name="Image 0" descr="/Users/agustin/Documents/Coder House/GuardIA/docs/app-formul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783080"/>
            <a:ext cx="6629400" cy="4315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sección "Cómo funciona"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propia app, explicada para quien no sabe de seguridad informática.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084832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44168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44168" y="23225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la herramienta y en qué se apoya.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3136392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3063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realizar solicitudes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4168" y="337413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el mensaje completo, sumar remitente y enlaces, quitar datos personales innecesarios.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187952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4114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esperar como resultado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44256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riesgo, señales, explicación simple, recomendación y verificación sugerida.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5239512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5166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relevante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547725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por dentro, el esquema de salida y los límites de la herramienta.</a:t>
            </a:r>
            <a:endParaRPr lang="en-US" sz="1150" dirty="0"/>
          </a:p>
        </p:txBody>
      </p:sp>
      <p:pic>
        <p:nvPicPr>
          <p:cNvPr id="20" name="Image 0" descr="/Users/agustin/Documents/Coder House/GuardIA/docs/app-como-funcio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17320"/>
            <a:ext cx="3108960" cy="46634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inicial (texto → texto)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del proyecto: el prompt que convierte al modelo en un analista de phishing.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6720840" cy="4206240"/>
          </a:xfrm>
          <a:prstGeom prst="roundRect">
            <a:avLst>
              <a:gd name="adj" fmla="val 1304"/>
            </a:avLst>
          </a:prstGeom>
          <a:solidFill>
            <a:srgbClr val="0A2438"/>
          </a:solidFill>
          <a:ln w="12700">
            <a:solidFill>
              <a:srgbClr val="0A24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83664"/>
            <a:ext cx="6318504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Sos un analista de ciberseguridad experto en detectar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phishing, ingeniería social y fraude por correo.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TENÉS QUE EVALUAR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Remitente: dominio que no coincide, typosquatting,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correos gratuitos en nombre de una empresa.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Urgencia y presión: plazos imposibles, amenazas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 bloqueo, pedidos de confidencialidad.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Pedidos sensibles: credenciales, códigos, cambios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 CBU, transferencias, gift cards.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Enlaces y adjuntos: dominios que no corresponden,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acortadores, ejecutables, formularios externos.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Redacción y contexto: saludos genéricos, tono que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 coincide con la relación real.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Suplantación de autoridad: gerentes, bancos, ARCA,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proveedores o clientes conocidos.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REGLAS QUE NO PODÉS ROMPER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Basate solo en lo que aparece en el mensaje. No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inventes datos, dominios ni antecedentes.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 ausencia de señales NO garantiza legitimidad.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Nunca afirmes con certeza absoluta: ante la duda,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recomendá verificar por un canal oficial.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Escribí en lenguaje simple, sin jerga técnica.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9893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Extracto. La versión completa está en guardia/prompts.py del repositorio.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analista experto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0" y="24688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Sitúa al modelo en el dominio correcto y mejora la precisión de las señales que detecta.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explícito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0" y="34290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ambigüedad: dos análisis del mismo correo dan resultados consistentes.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anti-alucinación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0" y="43891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prohíben inventar datos y afirmar con certeza absoluta; ante la duda, verificar.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5074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simple obligatorio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0" y="53492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destinatario es un empleado sin perfil técnico, no un analista.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5989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0.2: buscamos un diagnóstico estable y reproducible, no creatividad.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dirigida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garantiza que la respuesta del modelo siempre tenga la misma forma.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pedirle al modelo "respondeme en JSON" y confiar en que obedezca, GuardIA envía el esquema de la respuesta junto con la consulta, y la API garantiza que el resultado lo cumpla.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 que la interfaz siempre recibe la misma estructura y puede dibujarla igual en todos los casos: no hay que interpretar texto libre ni la aplicación se rompe si el modelo cambia de estilo.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4343400"/>
            <a:ext cx="4937760" cy="1417320"/>
          </a:xfrm>
          <a:prstGeom prst="roundRect">
            <a:avLst>
              <a:gd name="adj" fmla="val 5806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5262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INYECCIÓN DE PROMPT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4800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a analizar va entre delimitadores. Si el correo contiene órdenes dirigidas a una IA, se tratan como una señal de riesgo más, nunca como instrucciones a ejecutar.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30952" cy="3931920"/>
          </a:xfrm>
          <a:prstGeom prst="roundRect">
            <a:avLst>
              <a:gd name="adj" fmla="val 1395"/>
            </a:avLst>
          </a:prstGeom>
          <a:solidFill>
            <a:srgbClr val="0A2438"/>
          </a:solidFill>
          <a:ln w="12700">
            <a:solidFill>
              <a:srgbClr val="0A24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975104"/>
            <a:ext cx="492861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"tipo_de_engano": "técnica detectada",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"senales": [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"titulo": "nombre breve",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"detalle": "qué lo dispara y por qué",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"gravedad": "baja | media | alta"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"puntaje": 0-100,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"nivel_riesgo": "bajo | medio | alto |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indeterminado",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"explicacion": "en lenguaje simple",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"recomendacion": "qué hacer ahora",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"verificacion_sugerida": "cómo confirmarlo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por canal oficial"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585216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no es casual: el modelo detecta las señales antes de puntuar y de redactar, así el texto se apoya en lo que ya identificó.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organizado el código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separada de la lógica, y todo lo que le pedimos a la IA en un solo archivo.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035040" cy="3200400"/>
          </a:xfrm>
          <a:prstGeom prst="roundRect">
            <a:avLst>
              <a:gd name="adj" fmla="val 1714"/>
            </a:avLst>
          </a:prstGeom>
          <a:solidFill>
            <a:srgbClr val="0A2438"/>
          </a:solidFill>
          <a:ln w="12700">
            <a:solidFill>
              <a:srgbClr val="0A24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020824"/>
            <a:ext cx="563270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GuardIA/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            interfaz web (Streamlit)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guardia/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prompts.py    prompt y esquema de salida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analisis.py   cliente de Gemini y consumo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ejemplos.py   mensajes de prueba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.streamlit/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config.toml   paleta de colores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secrets.toml  la clave (fuera del repo)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  dependencias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52578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funciones están documentadas y los bloques comentados explican el porqué de cada decisión, no lo que ya dice el código.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60920" y="1929384"/>
            <a:ext cx="420624" cy="42062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73568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no sabe de IA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73568" y="2167128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solo llama a funciones del paquete guardia/. Cambiar de proveedor implica reescribir un archivo y ninguno más.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2962656"/>
            <a:ext cx="420624" cy="42062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73568" y="2907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prompts, en un solo lugar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73568" y="3200400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comportamiento del análisis no obliga a tocar la interfaz ni las llamadas a la API.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60920" y="3995928"/>
            <a:ext cx="420624" cy="42062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73568" y="3941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llegan traducidos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73568" y="423367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"429 RESOURCE_EXHAUSTED" no le sirve a nadie: la app lo convierte en una explicación con la acción a seguir.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0920" y="5029200"/>
            <a:ext cx="420624" cy="42062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73568" y="4974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nunca está en el código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973568" y="5266944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de los secretos de Streamlit o del entorno, y el archivo está excluido del repositorio.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Gemini, y qué queda para la próxima versión.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MODELO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6309360" cy="1152144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42032"/>
            <a:ext cx="493776" cy="49377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3591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gratuito real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45920" y="267004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Flash de Gemini figura como "free of charge" en la documentación oficial: la herramienta se opera sin costo y sin tarjeta de crédito.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511296"/>
            <a:ext cx="6309360" cy="1152144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840480"/>
            <a:ext cx="493776" cy="49377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840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657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dirigida con esquema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645920" y="396849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exige la consigna y lo que vuelve confiable a la app: la API garantiza la estructura de la respuesta.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809744"/>
            <a:ext cx="6309360" cy="1152144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5138928"/>
            <a:ext cx="493776" cy="49377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138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9560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cero como parte de la propuesta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45920" y="526694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herramienta apunta a PyMEs sin presupuesto de seguridad, que su operación no cueste nada no es un detalle: es parte del argumento.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60920" y="18288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9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 LA PLACA DE CONCIENTIZACIÓN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2194560"/>
            <a:ext cx="2148840" cy="30175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DF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2194560"/>
            <a:ext cx="2148840" cy="38404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8936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pPr indent="0" marL="0">
              <a:buNone/>
            </a:pPr>
            <a:r>
              <a:rPr lang="en-US" sz="1200" b="1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60920" y="2578608"/>
            <a:ext cx="2148840" cy="1188720"/>
          </a:xfrm>
          <a:prstGeom prst="rect">
            <a:avLst/>
          </a:prstGeom>
          <a:solidFill>
            <a:srgbClr val="DCE8F0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257860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 con 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88936" y="3895344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88936" y="389534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88936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 de banco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07224" y="4581144"/>
            <a:ext cx="64008" cy="6400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4517136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no es el del banco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507224" y="4773168"/>
            <a:ext cx="64008" cy="6400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4709160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 con bloquear la cuenta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507224" y="4965192"/>
            <a:ext cx="64008" cy="6400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4901184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clave y datos de tarjeta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692640" y="2194560"/>
            <a:ext cx="1828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visual generada con un modelo texto → imagen a partir del diagnóstico, para compartir por el grupo interno de la empresa y convertir cada intento de phishing en material de capacitación.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Quedó fuera de esta versión porque la generación de imágenes no está disponible en los niveles gratuitos, y operar sin costo es parte de la propuesta.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económica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operar la herramienta es cero: nivel gratuito de la API y hosting sin cargo.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116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78408" y="26700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consulta y por mes, en el nivel gratuito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0832" y="187452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0116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63440" y="26700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hosting en Streamlit Community Cloud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55864" y="187452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20116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tarjeta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48472" y="26700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medio de pago para producción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referencia de escalabilidad, cada análisis consume unos 1.500 tokens de entrada y 500 de salida. Esto costaría en el nivel pago: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77640"/>
          <a:ext cx="73152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645920"/>
                <a:gridCol w="17373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GRATUITO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PAGO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análisis (gemini-2.5-flash)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US$ 0,0017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análisis por 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US$ 0,85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5.000 análisis por 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US$ 8,50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en Streamlit Community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Repositorio (GitHub) y entorno (Python, VS Code)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366760" y="3520440"/>
            <a:ext cx="3136392" cy="2286000"/>
          </a:xfrm>
          <a:prstGeom prst="roundRect">
            <a:avLst>
              <a:gd name="adj" fmla="val 360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36576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9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MIDE SU PROPIO CONSUMO</a:t>
            </a:r>
            <a:endParaRPr lang="en-US" sz="950" dirty="0"/>
          </a:p>
        </p:txBody>
      </p:sp>
      <p:pic>
        <p:nvPicPr>
          <p:cNvPr id="17" name="Image 0" descr="/Users/agustin/Documents/Coder House/GuardIA/docs/app-consu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977640"/>
            <a:ext cx="1764792" cy="17007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" y="5870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del nivel pago vigentes en agosto de 2026: US$ 0,30 por millón de tokens de entrada y US$ 2,50 por millón de salida (gemini-2.5-flash).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consideraciones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honesto respecto de los límites de la herramienta también forma parte de su diseño.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193792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94560"/>
            <a:ext cx="475488" cy="47548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194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 y falsos negativos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78892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puede equivocarse en ambos sentidos. GuardIA se presenta como un asistente, no como un veredicto final: siempre recomienda verificar por un canal oficial.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93792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194560"/>
            <a:ext cx="475488" cy="47548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194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56832" y="278892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se envía a la API de Google Gemini. No debe pegarse información confidencial innecesaria; en un uso productivo correspondería anonimizar y contemplar acuerdos de tratamiento de datos.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5193792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06240"/>
            <a:ext cx="475488" cy="47548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2062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 del nivel gratuito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480060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gratuito limita las consultas por minuto y por día. Son holgados para una PyME, pero un pico de tráfico podría agotarlos temporalmente.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193792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206240"/>
            <a:ext cx="475488" cy="47548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acotado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56832" y="480060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pensada para phishing por texto: no abre adjuntos ni sigue enlaces. No reemplaza al antivirus, a los filtros de correo ni al MFA, sino que los complementa.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del proyecto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desplegada, código fuente y demostración.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40280"/>
            <a:ext cx="512064" cy="51206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0391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DESPLEGADA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83080" y="22585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interactuar con la app desde el navegador, sin instalar nada.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2258568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258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https://guardia.streamlit.app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24612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611880"/>
            <a:ext cx="512064" cy="51206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34107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36301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en GitHub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comentado y organizado: app.py para la interfaz y el paquete guardia/ para la lógica.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630168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7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630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https://github.com/cubi20/guardia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61772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983480"/>
            <a:ext cx="512064" cy="51206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983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83080" y="4782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5001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funcionamiento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8308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la app: análisis de un correo legítimo y de uno fraudulento.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5001768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7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5001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https://youtu.be/video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035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reemplazar el enlace de Streamlit y el del video por los definitivos.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importancia de la propuesta y el impacto esperado.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820095" cy="1261872"/>
          </a:xfrm>
          <a:prstGeom prst="roundRect">
            <a:avLst>
              <a:gd name="adj" fmla="val 6522"/>
            </a:avLst>
          </a:prstGeom>
          <a:solidFill>
            <a:srgbClr val="10395C"/>
          </a:solidFill>
          <a:ln w="12700">
            <a:solidFill>
              <a:srgbClr val="1B4B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31720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13055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real, con una solución concreta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4780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 aborda un problema frecuente y costoso con una herramienta simple, técnicamente realizable y de costo operativo cero: cualquier PyME puede usarla sin presupuesto ni equipo de seguridad.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383280"/>
            <a:ext cx="10820095" cy="1261872"/>
          </a:xfrm>
          <a:prstGeom prst="roundRect">
            <a:avLst>
              <a:gd name="adj" fmla="val 6522"/>
            </a:avLst>
          </a:prstGeom>
          <a:solidFill>
            <a:srgbClr val="10395C"/>
          </a:solidFill>
          <a:ln w="12700">
            <a:solidFill>
              <a:srgbClr val="1B4B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749040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49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5478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aplicada donde realmente aporta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8953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un correo es confiable combina lenguaje, contexto y criterio: exactamente donde un modelo de lenguaje suma. Y la salida dirigida es lo que convierte una respuesta de chat en una funcionalidad confiable.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20095" cy="1261872"/>
          </a:xfrm>
          <a:prstGeom prst="roundRect">
            <a:avLst>
              <a:gd name="adj" fmla="val 6522"/>
            </a:avLst>
          </a:prstGeom>
          <a:solidFill>
            <a:srgbClr val="10395C"/>
          </a:solidFill>
          <a:ln w="12700">
            <a:solidFill>
              <a:srgbClr val="1B4B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5166360"/>
            <a:ext cx="530352" cy="53035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166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496519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está en el momento de la decisión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31266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la propuesta es poner el conocimiento de seguridad al alcance de quien no lo tiene, exactamente cuando necesita decidir si hacer clic. Y al no tener costo de operación, esa ayuda llega también a las empresas que hoy no pueden pagar por seguridad.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3550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pPr indent="0" marL="0">
              <a:buNone/>
            </a:pPr>
            <a:r>
              <a:rPr lang="en-US" sz="900" dirty="0">
                <a:solidFill>
                  <a:srgbClr val="7E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Final — Prompt Engineering para Programadores · CoderHouse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486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pPr algn="ctr" indent="0" marL="0">
              <a:buNone/>
            </a:pPr>
            <a:r>
              <a:rPr lang="en-US" sz="8000" b="1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al alcance de cualquier PyME.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Agustín Idoyaga Molina  ·  Comisión #95920  ·  Proyecto Final, CoderHouse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 — Proyecto Final</dc:title>
  <dc:subject>PptxGenJS Presentation</dc:subject>
  <dc:creator>Agustín Idoyaga Molina</dc:creator>
  <cp:lastModifiedBy>Agustín Idoyaga Molina</cp:lastModifiedBy>
  <cp:revision>1</cp:revision>
  <dcterms:created xsi:type="dcterms:W3CDTF">2026-08-16T16:39:28Z</dcterms:created>
  <dcterms:modified xsi:type="dcterms:W3CDTF">2026-08-16T16:39:28Z</dcterms:modified>
</cp:coreProperties>
</file>